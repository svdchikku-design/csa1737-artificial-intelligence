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faculty. Say your name, the topic, and that you will explain system calls in 3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program cannot touch hardware directly. System calls are the safe doorway. Today: 3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first, then solution. Explain user mode versus kernel mode with the waiter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along the boxes, then the return arrow. Example: read() on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trick: P-F-D-I-C. Point out the real-life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one simple command uses calls from different categories. Mention strace.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apps the audience uses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idea, different names. Windows apps use the Win32 API, Linux apps use POSIX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the one-line idea and thank the audience. Then take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sources were used for definitions, the categories and the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-2" y="1689724"/>
            <a:ext cx="914399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System Calls and their Categories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68234" y="31685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Operating Systems  |  Assessment Tool 3  |  CO1</a:t>
            </a:r>
            <a:endParaRPr lang="en-US" sz="1600" dirty="0"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9A703-4696-2D31-65FA-816944F4A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822960"/>
          </a:xfrm>
          <a:prstGeom prst="rect">
            <a:avLst/>
          </a:prstGeom>
        </p:spPr>
      </p:pic>
      <p:pic>
        <p:nvPicPr>
          <p:cNvPr id="12" name="object 6">
            <a:extLst>
              <a:ext uri="{FF2B5EF4-FFF2-40B4-BE49-F238E27FC236}">
                <a16:creationId xmlns:a16="http://schemas.microsoft.com/office/drawing/2014/main" id="{29E31FD4-AB8B-07D0-97AE-FBC59BD1647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6610" y="91440"/>
            <a:ext cx="7850777" cy="640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3FC927-6F7F-0603-E66F-5A3B32034D91}"/>
              </a:ext>
            </a:extLst>
          </p:cNvPr>
          <p:cNvSpPr txBox="1"/>
          <p:nvPr/>
        </p:nvSpPr>
        <p:spPr>
          <a:xfrm>
            <a:off x="113685" y="43080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Modern No. 20" panose="02070704070505020303" pitchFamily="18" charset="0"/>
                <a:ea typeface="Calibri" pitchFamily="34" charset="-122"/>
                <a:cs typeface="Calibri" pitchFamily="34" charset="-120"/>
              </a:rPr>
              <a:t>Course Code  </a:t>
            </a: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CSA0421</a:t>
            </a:r>
            <a:endParaRPr lang="en-IN" sz="1800" dirty="0">
              <a:latin typeface="Copperplate Gothic Bold" panose="020E07050202060204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A17201-EC18-C5A2-C30D-A448E71F3F59}"/>
              </a:ext>
            </a:extLst>
          </p:cNvPr>
          <p:cNvSpPr txBox="1"/>
          <p:nvPr/>
        </p:nvSpPr>
        <p:spPr>
          <a:xfrm>
            <a:off x="113685" y="4677392"/>
            <a:ext cx="8011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DCE0F5"/>
                </a:solidFill>
                <a:latin typeface="Modern No. 20" panose="02070704070505020303" pitchFamily="18" charset="0"/>
                <a:cs typeface="Calibri"/>
              </a:rPr>
              <a:t>Course</a:t>
            </a:r>
            <a:r>
              <a:rPr lang="en-IN" sz="1800" b="1" spc="-35" dirty="0">
                <a:solidFill>
                  <a:srgbClr val="DCE0F5"/>
                </a:solidFill>
                <a:latin typeface="Modern No. 20" panose="02070704070505020303" pitchFamily="18" charset="0"/>
                <a:cs typeface="Calibri"/>
              </a:rPr>
              <a:t> </a:t>
            </a:r>
            <a:r>
              <a:rPr lang="en-IN" sz="1800" b="1" spc="-10" dirty="0">
                <a:solidFill>
                  <a:srgbClr val="DCE0F5"/>
                </a:solidFill>
                <a:latin typeface="Modern No. 20" panose="02070704070505020303" pitchFamily="18" charset="0"/>
                <a:cs typeface="Calibri"/>
              </a:rPr>
              <a:t>Faculty</a:t>
            </a:r>
            <a:r>
              <a:rPr lang="en-IN" b="1" spc="-10" dirty="0">
                <a:solidFill>
                  <a:srgbClr val="DCE0F5"/>
                </a:solidFill>
                <a:latin typeface="Modern No. 20" panose="02070704070505020303" pitchFamily="18" charset="0"/>
                <a:cs typeface="Calibri"/>
              </a:rPr>
              <a:t> </a:t>
            </a:r>
            <a:r>
              <a:rPr lang="en-IN" b="1" spc="-10" dirty="0">
                <a:solidFill>
                  <a:srgbClr val="DCE0F5"/>
                </a:solidFill>
                <a:cs typeface="Calibri"/>
              </a:rPr>
              <a:t>-  </a:t>
            </a:r>
            <a:r>
              <a:rPr lang="en-IN" b="1" spc="-10" dirty="0">
                <a:solidFill>
                  <a:srgbClr val="DCE0F5"/>
                </a:solidFill>
                <a:latin typeface="Copperplate Gothic Bold" panose="020E0705020206020404" pitchFamily="34" charset="0"/>
                <a:cs typeface="Calibri"/>
              </a:rPr>
              <a:t>Dr. PRABAHARAN</a:t>
            </a:r>
            <a:endParaRPr lang="en-IN" b="1" dirty="0">
              <a:latin typeface="Copperplate Gothic Bold" panose="020E07050202060204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B76FD6-414C-1851-D92C-FF2204AF2194}"/>
              </a:ext>
            </a:extLst>
          </p:cNvPr>
          <p:cNvSpPr txBox="1"/>
          <p:nvPr/>
        </p:nvSpPr>
        <p:spPr>
          <a:xfrm>
            <a:off x="5995850" y="4568238"/>
            <a:ext cx="3656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7D2E8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Presented by :</a:t>
            </a:r>
          </a:p>
          <a:p>
            <a:r>
              <a:rPr lang="en-US" sz="1100" dirty="0" err="1">
                <a:solidFill>
                  <a:srgbClr val="C7D2E8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Donapati</a:t>
            </a:r>
            <a:r>
              <a:rPr lang="en-US" sz="1100" dirty="0">
                <a:solidFill>
                  <a:srgbClr val="C7D2E8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 Saai Vardhan      (192525205)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4503" y="1051560"/>
            <a:ext cx="519901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app you use, such as a browser, a game or a messaging app, needs files, memory, the network and devices.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safety, an application is not allowed to touch hardware directly.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Instead it asks the operating system for help through a system call.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presentation explains what system calls are, how they work, their five categories, and where they appear in real life on Linux, Windows and Android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05156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0" y="1051560"/>
            <a:ext cx="73152" cy="8686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79008" y="11247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Chapter 1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779008" y="1508760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Fundamentals: why and how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577840" y="210312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210312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79008" y="2176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Chapter 2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779008" y="2560320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Categories of system calls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577840" y="315468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3154680"/>
            <a:ext cx="73152" cy="868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79008" y="3227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34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Chapter 3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779008" y="3611880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use and 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1D62FEBF-56C3-00AF-CDC6-1B2039C12A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20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DBE5C64B-A1AD-D357-9BBB-94735E620C6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Why do we need system calls?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031956" y="-212271"/>
            <a:ext cx="1378132" cy="760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89E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CHAPTER - 1</a:t>
            </a:r>
            <a:endParaRPr lang="en-US" sz="1100" dirty="0">
              <a:latin typeface="Copperplate Gothic Bold" panose="020E07050202060204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1124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34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58368" y="150876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every program could directly use the disk, memory and devices, one buggy or harmful program could crash or corrupt the whole system.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051560"/>
            <a:ext cx="73152" cy="15544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10328" y="1124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The Solution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910328" y="150876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OS keeps hardware control to itself and offers system calls: a safe, controlled doorway that programs use to request services.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788920"/>
            <a:ext cx="73152" cy="1737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862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User Mode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58368" y="3246120"/>
            <a:ext cx="3657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applications run. Limited access, so a crash only affects that one program.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709160" y="278892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2788920"/>
            <a:ext cx="73152" cy="1737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910328" y="2862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Kernel Mode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4910328" y="3246120"/>
            <a:ext cx="3657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the OS runs. Full access to hardware. A system call moves the CPU here briefly, then returns.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47B01180-A7CE-1F15-24D1-555C1A4883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24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E7AF9E3A-D970-C3DE-6184-09A0CF67DB3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How a system call works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65760" y="960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USER MODE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749040" y="960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KERNEL MODE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3258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" y="1325880"/>
            <a:ext cx="1371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App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calls read()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737360" y="1828800"/>
            <a:ext cx="3200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057400" y="13258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1325880"/>
            <a:ext cx="1371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 Library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libc / Win32 API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429000" y="1828800"/>
            <a:ext cx="3200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749040" y="13258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1325880"/>
            <a:ext cx="1371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switch to kernel mode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120640" y="1828800"/>
            <a:ext cx="3200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440680" y="13258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40680" y="1325880"/>
            <a:ext cx="1371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Kernel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system, drivers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812280" y="1828800"/>
            <a:ext cx="3200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132320" y="13258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0" y="1325880"/>
            <a:ext cx="1371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disk, I/O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818120" y="2331720"/>
            <a:ext cx="0" cy="41148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51560" y="2331720"/>
            <a:ext cx="0" cy="41148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>
            <a:off x="1051560" y="2743200"/>
            <a:ext cx="67665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2286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 returns to the program (back to user mode)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57200" y="320040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24612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 calls read() to get data from a file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Library places the call number in a register and triggers a trap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CPU switches from user mode to kernel mode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Kernel talks to the disk and fetches the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is returned and the CPU goes back to user mode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3E2046A6-EBCF-44E5-8A9D-89E2A78AAE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29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CFED91B7-93CB-5FA7-50D2-F8EE302400D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Five categories of system calls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682502" y="-263216"/>
            <a:ext cx="1423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89E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CHAPTER - 2</a:t>
            </a:r>
            <a:endParaRPr lang="en-US" sz="1100" dirty="0">
              <a:latin typeface="Copperplate Gothic Bold" panose="020E0705020206020404" pitchFamily="3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455611"/>
              </p:ext>
            </p:extLst>
          </p:nvPr>
        </p:nvGraphicFramePr>
        <p:xfrm>
          <a:off x="457200" y="1051560"/>
          <a:ext cx="8229600" cy="340156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What it does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Linux examples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Real-life use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Process control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Create and end programs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fork(), exec(), exit()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Opening Chrome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File management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Work with files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open(), read(), write(), close()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Saving a document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Device management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Talk to devices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ioctl(), read()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Printing, camera, mic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Information maintenance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Get or set system data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getpid(), time()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Clock on your phone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Programs exchange data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pipe(), socket()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WhatsApp sending a message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Memory trick:  P - F - D - I - C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pic>
        <p:nvPicPr>
          <p:cNvPr id="7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FCFA8323-E3B0-1251-40B0-27E3DA2C9A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10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C0737DA6-736E-67C8-EC29-C264B87F0D6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Categories in action: cat notes.txt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051560"/>
            <a:ext cx="2560320" cy="64008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Bookman Old Style" panose="02050604050505020204" pitchFamily="18" charset="0"/>
                <a:ea typeface="Consolas" pitchFamily="34" charset="-122"/>
                <a:cs typeface="Times New Roman" panose="02020603050405020304" pitchFamily="18" charset="0"/>
              </a:rPr>
              <a:t>1.  fork()</a:t>
            </a:r>
            <a:endParaRPr lang="en-US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943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9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9436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Shell creates a new process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9184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051560"/>
            <a:ext cx="2560320" cy="64008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Bookman Old Style" panose="02050604050505020204" pitchFamily="18" charset="0"/>
                <a:ea typeface="Consolas" pitchFamily="34" charset="-122"/>
                <a:cs typeface="Times New Roman" panose="02020603050405020304" pitchFamily="18" charset="0"/>
              </a:rPr>
              <a:t>2.  exec()</a:t>
            </a:r>
            <a:endParaRPr lang="en-US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9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4290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Loads the cat program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26480" y="1051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105156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36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Bookman Old Style" panose="02050604050505020204" pitchFamily="18" charset="0"/>
                <a:ea typeface="Consolas" pitchFamily="34" charset="-122"/>
                <a:cs typeface="Times New Roman" panose="02020603050405020304" pitchFamily="18" charset="0"/>
              </a:rPr>
              <a:t>3.  open()</a:t>
            </a:r>
            <a:endParaRPr lang="en-US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62636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26364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Opens notes.txt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65176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Bookman Old Style" panose="02050604050505020204" pitchFamily="18" charset="0"/>
                <a:ea typeface="Consolas" pitchFamily="34" charset="-122"/>
                <a:cs typeface="Times New Roman" panose="02020603050405020304" pitchFamily="18" charset="0"/>
              </a:rPr>
              <a:t>4.  read()</a:t>
            </a:r>
            <a:endParaRPr lang="en-US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5943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59436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Reads the file contents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9184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0" y="2651760"/>
            <a:ext cx="2560320" cy="64008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290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Bookman Old Style" panose="02050604050505020204" pitchFamily="18" charset="0"/>
                <a:ea typeface="Consolas" pitchFamily="34" charset="-122"/>
                <a:cs typeface="Times New Roman" panose="02020603050405020304" pitchFamily="18" charset="0"/>
              </a:rPr>
              <a:t>5.  write()</a:t>
            </a:r>
            <a:endParaRPr lang="en-US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34290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3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Device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342900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Prints text on the screen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12648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26480" y="2651760"/>
            <a:ext cx="2560320" cy="64008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636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Bookman Old Style" panose="02050604050505020204" pitchFamily="18" charset="0"/>
                <a:ea typeface="Consolas" pitchFamily="34" charset="-122"/>
                <a:cs typeface="Times New Roman" panose="02020603050405020304" pitchFamily="18" charset="0"/>
              </a:rPr>
              <a:t>6.  exit()</a:t>
            </a:r>
            <a:endParaRPr lang="en-US" sz="2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62636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9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626364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 ends cleanly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392A556B-A242-2A5A-ED8E-7E9A9D08FB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37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5B124D2A-BE18-1E6F-AFCF-92FB2CE4635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System calls in the real world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801291" y="-273369"/>
            <a:ext cx="1658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89E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CHAPTER - 3</a:t>
            </a:r>
            <a:endParaRPr lang="en-US" sz="1100" dirty="0">
              <a:latin typeface="Copperplate Gothic Bold" panose="020E07050202060204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051560"/>
            <a:ext cx="73152" cy="16002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1124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Messaging app (WhatsApp)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58368" y="150876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open() and read() load the photo you attach. socket() and send() carry your message over the network.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051560"/>
            <a:ext cx="73152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10328" y="1124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Web browser (Chrome)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910328" y="150876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tab runs as its own process created with fork()/clone(). socket() fetches web pages and read() loads files.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834640"/>
            <a:ext cx="73152" cy="16002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34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Android phone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58368" y="329184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Android apps run on a Linux kernel. The camera app uses open() and ioctl() to reach the camera hardware.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709160" y="283464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2834640"/>
            <a:ext cx="73152" cy="1600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910328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Cloud and Docker</a:t>
            </a:r>
            <a:endParaRPr lang="en-US" sz="1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4910328" y="329184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Containers share one Linux kernel. System calls such as clone() and unshare() give each container its own isolated view.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CD67E9AC-6858-EE1C-490A-E4CD16DAB4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24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3257BF86-438B-F048-2023-AFEA3CC1749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Windows vs Linux system calls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84437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Task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Linux (POSIX)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Windows (Win32 API)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Create process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fork() + exec()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CreateProcess()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Open / create file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open()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CreateFile()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Read file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read()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ReadFile()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Write file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write()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WriteFile()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Close file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close()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CloseHandle()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Allocate memory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mmap()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VirtualAlloc()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Exit program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exit()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ExitProcess()</a:t>
                      </a:r>
                      <a:endParaRPr lang="en-US" sz="12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Key point: Linux programs call the kernel directly (through libc). Windows programs use the Win32 API, which in turn calls the native NT kernel. The idea is the same: ask the OS safely.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pic>
        <p:nvPicPr>
          <p:cNvPr id="5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9DAAE654-CA1B-0941-A563-8BF468A36F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7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9E2F5158-18C0-D070-B5EF-F0F9BBAE529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742508" y="-238397"/>
            <a:ext cx="17765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89E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>
              <a:latin typeface="Copperplate Gothic Bold" panose="020E07050202060204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57200" y="109728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calls let programs request OS services safely using user mode and kernel mode.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are five categories: process, file, device, information and communication.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real application depends on them: messaging, browsing, Android and containers.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Linux (POSIX) and Windows (Win32) use different names but the same concept.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852160" y="1567543"/>
            <a:ext cx="2834640" cy="254072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30536" y="1352006"/>
            <a:ext cx="2671355" cy="267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One idea</a:t>
            </a:r>
            <a:endParaRPr lang="en-US" sz="13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 system call is the safe doorway between a program and the hardware.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pic>
        <p:nvPicPr>
          <p:cNvPr id="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6AA82719-868E-3930-EDC5-E6861A3EE6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11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0F1767CE-B316-DA23-FCCC-A952CC9FE96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1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References (IEEE style)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771900" y="-264523"/>
            <a:ext cx="16720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A89E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>
              <a:latin typeface="Copperplate Gothic Bold" panose="020E07050202060204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37160" y="1051560"/>
            <a:ext cx="894152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B2B2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[1] A. Silberschatz, P. B. Galvin, and G. Gagne, Operating System Concepts, 10th ed. Hoboken, NJ, USA: Wiley, 2018.</a:t>
            </a:r>
            <a:endParaRPr lang="en-US" sz="1200" dirty="0">
              <a:latin typeface="Bookman Old Style" panose="02050604050505020204" pitchFamily="18" charset="0"/>
            </a:endParaRPr>
          </a:p>
          <a:p>
            <a:pPr marL="171450" indent="-1714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B2B2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[2] J. H. Saltzer and M. D. Schroeder, "The protection of information in computer systems," Proc. IEEE, vol. 63, no. 9, pp. 1278-1308, Sep. 1975.</a:t>
            </a:r>
            <a:endParaRPr lang="en-US" sz="1200" dirty="0">
              <a:latin typeface="Bookman Old Style" panose="02050604050505020204" pitchFamily="18" charset="0"/>
            </a:endParaRPr>
          </a:p>
          <a:p>
            <a:pPr marL="171450" indent="-1714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B2B2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[3] IEEE and The Open Group, "IEEE Std 1003.1-2017: POSIX.1, Portable Operating System Interface," 2018.</a:t>
            </a:r>
            <a:endParaRPr lang="en-US" sz="1200" dirty="0">
              <a:latin typeface="Bookman Old Style" panose="02050604050505020204" pitchFamily="18" charset="0"/>
            </a:endParaRPr>
          </a:p>
          <a:p>
            <a:pPr marL="171450" indent="-1714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B2B2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[4] M. Kerrisk, The Linux Programming Interface. San Francisco, CA, USA: No Starch Press, 2010.</a:t>
            </a:r>
            <a:endParaRPr lang="en-US" sz="1200" dirty="0">
              <a:latin typeface="Bookman Old Style" panose="02050604050505020204" pitchFamily="18" charset="0"/>
            </a:endParaRPr>
          </a:p>
          <a:p>
            <a:pPr marL="171450" indent="-1714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B2B2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[5] Linux man-pages project, "syscalls(2)." [Online]. Available: https://man7.org/linux/man-pages/man2/syscalls.2.html</a:t>
            </a:r>
            <a:endParaRPr lang="en-US" sz="1200" dirty="0">
              <a:latin typeface="Bookman Old Style" panose="02050604050505020204" pitchFamily="18" charset="0"/>
            </a:endParaRPr>
          </a:p>
          <a:p>
            <a:pPr marL="171450" indent="-1714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2B2B2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[6] Microsoft, "Windows API index," Microsoft Learn. [Online]. Available: https://learn.microsoft.com/en-us/windows/win32/apiindex/windows-api-list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pic>
        <p:nvPicPr>
          <p:cNvPr id="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FF0300AC-357E-51FA-BD43-58E841A4CDB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8" y="138111"/>
            <a:ext cx="999997" cy="651535"/>
          </a:xfrm>
          <a:prstGeom prst="rect">
            <a:avLst/>
          </a:prstGeom>
        </p:spPr>
      </p:pic>
      <p:pic>
        <p:nvPicPr>
          <p:cNvPr id="9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B5FEDF51-C528-36D2-3A11-62749BE357C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2347" y="91440"/>
            <a:ext cx="748906" cy="6515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1181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Arial</vt:lpstr>
      <vt:lpstr>Bookman Old Style</vt:lpstr>
      <vt:lpstr>Calibri</vt:lpstr>
      <vt:lpstr>Copperplate Gothic Bold</vt:lpstr>
      <vt:lpstr>Modern No. 20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Calls and their Categories</dc:title>
  <dc:subject>PptxGenJS Presentation</dc:subject>
  <dc:creator>Saai Vardhan D</dc:creator>
  <cp:lastModifiedBy>Saai Vardhan</cp:lastModifiedBy>
  <cp:revision>3</cp:revision>
  <dcterms:created xsi:type="dcterms:W3CDTF">2026-10-15T08:42:13Z</dcterms:created>
  <dcterms:modified xsi:type="dcterms:W3CDTF">2026-10-16T03:29:24Z</dcterms:modified>
</cp:coreProperties>
</file>