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93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the three team members. Each member presents one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FAO estimates that roughly one third of food produced for human consumption is lost or wasted. Retail stores face the same issue at a smaller scale: overstock expires, understock loses sales, and unnoticed loss eats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aim clearly. Then explain scope so the panel knows the boundaries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standard references for the techniques we use. Existing methods handle one task; our project combines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where the data comes from, which columns matter, and the preprocessing steps before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Data is cleaned, passed to three modules, and the outputs reach the dashboard. Module 1 feeds Module 2, and Module 3 corrects the stock data used by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we learn from past sales and calendar effects to predict future demand. Output goes to Module 2 so it knows how fast each batch will 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compare days left to expiry with forecasted sales speed. If stock will not clear in time, the batch is high risk and an action is suggested.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expected stock minus actual stock should be near zero. Large unexplained gaps are anomalies that need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goal column with your actual results once models are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all tools are open source and run on a normal laptop or Google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less waste, better cash flow. Future: connect real sensors and scan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4908" y="923079"/>
            <a:ext cx="8732521" cy="76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Smart Inventory Loss</a:t>
            </a:r>
            <a:r>
              <a:rPr lang="en-US" sz="2800" dirty="0">
                <a:latin typeface="Algerian" panose="04020705040A02060702" pitchFamily="82" charset="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and Expiry Predictor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87383" y="17303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E0D6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AI-powered demand, expiry and loss intelligence for retail</a:t>
            </a:r>
            <a:endParaRPr lang="en-US" sz="1600" dirty="0">
              <a:latin typeface="Copperplate Gothic Bold" panose="020E07050202060204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87383" y="219129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Capstone Project  |  Artificial Intelligence  |  SIMATS Engineering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651760" cy="1188720"/>
          </a:xfrm>
          <a:prstGeom prst="rect">
            <a:avLst/>
          </a:prstGeom>
          <a:solidFill>
            <a:srgbClr val="12315F"/>
          </a:solidFill>
          <a:ln w="12700">
            <a:solidFill>
              <a:srgbClr val="1231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46120"/>
            <a:ext cx="2651760" cy="64008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Donapati Saai Vardhan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6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Reg. No: 192525205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3246120"/>
            <a:ext cx="2651760" cy="1188720"/>
          </a:xfrm>
          <a:prstGeom prst="rect">
            <a:avLst/>
          </a:prstGeom>
          <a:solidFill>
            <a:srgbClr val="12315F"/>
          </a:solidFill>
          <a:ln w="12700">
            <a:solidFill>
              <a:srgbClr val="123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246120"/>
            <a:ext cx="2651760" cy="6400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Dharshan Vishal S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6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Reg. No: 192321174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3246120"/>
            <a:ext cx="2651760" cy="1188720"/>
          </a:xfrm>
          <a:prstGeom prst="rect">
            <a:avLst/>
          </a:prstGeom>
          <a:solidFill>
            <a:srgbClr val="12315F"/>
          </a:solidFill>
          <a:ln w="12700">
            <a:solidFill>
              <a:srgbClr val="123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246120"/>
            <a:ext cx="2651760" cy="6400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Saravanan T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9D6E6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Reg. No: 1925260349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pic>
        <p:nvPicPr>
          <p:cNvPr id="16" name="object 12">
            <a:extLst>
              <a:ext uri="{FF2B5EF4-FFF2-40B4-BE49-F238E27FC236}">
                <a16:creationId xmlns:a16="http://schemas.microsoft.com/office/drawing/2014/main" id="{D8C1AA92-D50A-BA32-D220-EE5CEDB198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pic>
        <p:nvPicPr>
          <p:cNvPr id="18" name="Picture 17" descr="Saveetha University">
            <a:extLst>
              <a:ext uri="{FF2B5EF4-FFF2-40B4-BE49-F238E27FC236}">
                <a16:creationId xmlns:a16="http://schemas.microsoft.com/office/drawing/2014/main" id="{FF6C52B5-476D-B15E-14F4-E272DE5C4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" y="-13170"/>
            <a:ext cx="3291841" cy="668181"/>
          </a:xfrm>
          <a:prstGeom prst="rect">
            <a:avLst/>
          </a:prstGeom>
        </p:spPr>
      </p:pic>
      <p:pic>
        <p:nvPicPr>
          <p:cNvPr id="19" name="Picture 18" descr="Admissions — SIMATS">
            <a:extLst>
              <a:ext uri="{FF2B5EF4-FFF2-40B4-BE49-F238E27FC236}">
                <a16:creationId xmlns:a16="http://schemas.microsoft.com/office/drawing/2014/main" id="{2A5FBA5A-D6E4-F4FA-2C90-4EA46F50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422" y="24275"/>
            <a:ext cx="3664419" cy="648154"/>
          </a:xfrm>
          <a:prstGeom prst="rect">
            <a:avLst/>
          </a:prstGeom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668CC0BE-0236-D9EC-A90A-1F60F0F5F44C}"/>
              </a:ext>
            </a:extLst>
          </p:cNvPr>
          <p:cNvSpPr txBox="1"/>
          <p:nvPr/>
        </p:nvSpPr>
        <p:spPr>
          <a:xfrm>
            <a:off x="329837" y="4462272"/>
            <a:ext cx="3053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</a:rPr>
              <a:t>Guided by </a:t>
            </a:r>
          </a:p>
          <a:p>
            <a:r>
              <a:rPr lang="en-IN" sz="1600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cs typeface="Times New Roman" panose="02020603050405020304" pitchFamily="18" charset="0"/>
              </a:rPr>
              <a:t>Dr. k. </a:t>
            </a:r>
            <a:r>
              <a:rPr lang="en-IN" sz="1600" dirty="0" err="1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cs typeface="Times New Roman" panose="02020603050405020304" pitchFamily="18" charset="0"/>
              </a:rPr>
              <a:t>rajagopal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24ED9CBB-32B4-CD4E-3B83-FE8BC540C481}"/>
              </a:ext>
            </a:extLst>
          </p:cNvPr>
          <p:cNvSpPr txBox="1"/>
          <p:nvPr/>
        </p:nvSpPr>
        <p:spPr>
          <a:xfrm>
            <a:off x="-1" y="2725121"/>
            <a:ext cx="9144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>
                <a:solidFill>
                  <a:srgbClr val="FFFF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CSA1737 – ARTIFICIAL INTELLIGENCE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12">
            <a:extLst>
              <a:ext uri="{FF2B5EF4-FFF2-40B4-BE49-F238E27FC236}">
                <a16:creationId xmlns:a16="http://schemas.microsoft.com/office/drawing/2014/main" id="{F7FC274D-6CAF-5C1C-5638-484C82C25E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0"/>
            <a:ext cx="9143998" cy="68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Problem Statement and Motivation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822691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retailers need a smarter way to manage stock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2651760" cy="64008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A89E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~1/3</a:t>
            </a:r>
            <a:endParaRPr lang="en-US" sz="4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waste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0080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Roughly one third of food produced is lost or wasted worldwide (FAO).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22B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Expiry</a:t>
            </a:r>
            <a:endParaRPr lang="en-US" sz="4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4290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Spoiled stock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429000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Perishable batches expire before they sell, causing direct money loss.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03504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6FB6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Loss</a:t>
            </a:r>
            <a:endParaRPr lang="en-US" sz="40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2179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Hidden shrinkage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217920" y="2560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Theft, damage and counting errors go unnoticed until it is too late.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intelligent system that predicts demand, expiry risk and stock loss together.</a:t>
            </a:r>
            <a:endParaRPr lang="en-US" sz="1500" dirty="0"/>
          </a:p>
        </p:txBody>
      </p:sp>
      <p:pic>
        <p:nvPicPr>
          <p:cNvPr id="2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C4F0E0B4-0278-8D83-F241-E491F5A226A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ject 12">
            <a:extLst>
              <a:ext uri="{FF2B5EF4-FFF2-40B4-BE49-F238E27FC236}">
                <a16:creationId xmlns:a16="http://schemas.microsoft.com/office/drawing/2014/main" id="{AE38C463-119D-10A6-9731-F4DDC1D053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-1" y="1761"/>
            <a:ext cx="9144000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Objectives and Scope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system will and will not do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536192"/>
            <a:ext cx="3803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 product demand accurately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which batches will expire unsold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unexplained inventory loss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 actions: reorder, discount, donate, investigate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 waste, stock-outs and financial loss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In scope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536192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Retail / grocery stores with batch-wise stock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AI modules plus a simple dashboard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on historical and simulated data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971800"/>
            <a:ext cx="4023360" cy="274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73168" y="29718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Out of scope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773168" y="3319272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hardware integration (sensors, RFID)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Supplier negotiation and pricing strategy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billing system replacement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0A99FDF9-BBC0-3757-29E4-38BB0C10529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25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CF21C9C5-6CA0-E4F1-59DF-386B16A28CD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12">
            <a:extLst>
              <a:ext uri="{FF2B5EF4-FFF2-40B4-BE49-F238E27FC236}">
                <a16:creationId xmlns:a16="http://schemas.microsoft.com/office/drawing/2014/main" id="{44E775C7-7CB0-3361-400B-87D46E09AF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0"/>
            <a:ext cx="9144000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Literature Survey and Existing Systems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40663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work solves parts of the problem, not all of 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02990"/>
              </p:ext>
            </p:extLst>
          </p:nvPr>
        </p:nvGraphicFramePr>
        <p:xfrm>
          <a:off x="457200" y="1188720"/>
          <a:ext cx="8229600" cy="252374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Limitation for our problem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Hyndman &amp; Athanasopoulos, Forecasting: Principles and Practice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ARIMA, ETS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Forecasts demand only; no expiry or loss link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Taylor &amp; Letham (2018), Prophet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Seasonal time series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Demand only; ignores batch expiry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Chen &amp; Guestrin (2016), XGBoost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General-purpose; not tailored to inventory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Liu, Ting &amp; Zhou (2008), Isolation Forest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Generic; no stock-count context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contribution: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pipeline where demand forecasts drive expiry risk, and loss detection keeps stock data trustworthy.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CBB4E9A-E055-F90B-F770-6F8EEA6BA4AE}"/>
              </a:ext>
            </a:extLst>
          </p:cNvPr>
          <p:cNvSpPr txBox="1"/>
          <p:nvPr/>
        </p:nvSpPr>
        <p:spPr>
          <a:xfrm>
            <a:off x="1" y="1760"/>
            <a:ext cx="9144000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C8C140D5-CCB7-0898-0F3F-0B2309353AB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19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AFBE6B38-23B4-C4D5-BC3D-73028E9323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12">
            <a:extLst>
              <a:ext uri="{FF2B5EF4-FFF2-40B4-BE49-F238E27FC236}">
                <a16:creationId xmlns:a16="http://schemas.microsoft.com/office/drawing/2014/main" id="{C24EFBD1-C940-F424-686C-9765BDB902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0"/>
            <a:ext cx="9143999" cy="65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Dataset and Preprocessing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52421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used by all three modules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Data source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536192"/>
            <a:ext cx="38039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retail sales dataset (e.g., Kaggle store-item demand)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Synthetic batch, expiry and stock-count records that mimic real store patterns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Daily sales history across multiple products and stores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Key features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536192"/>
            <a:ext cx="38039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Date, product, category, store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Units sold, price, promotion flag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ID, manufacture and expiry date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5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stock vs physical count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15087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E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148840" y="3611880"/>
            <a:ext cx="15087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9456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E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840480" y="3611880"/>
            <a:ext cx="15087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8620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E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32120" y="3611880"/>
            <a:ext cx="15087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7784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E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223760" y="3611880"/>
            <a:ext cx="150876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E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 split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1DE4EAC-7DA3-28D5-9E0C-22C5CEB5271D}"/>
              </a:ext>
            </a:extLst>
          </p:cNvPr>
          <p:cNvSpPr txBox="1"/>
          <p:nvPr/>
        </p:nvSpPr>
        <p:spPr>
          <a:xfrm>
            <a:off x="1" y="1760"/>
            <a:ext cx="9144000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F23E9C26-676A-5B1E-978E-46143B44829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32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D132556C-820E-F7D1-34C9-0CFEF1CA510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object 12">
            <a:extLst>
              <a:ext uri="{FF2B5EF4-FFF2-40B4-BE49-F238E27FC236}">
                <a16:creationId xmlns:a16="http://schemas.microsoft.com/office/drawing/2014/main" id="{97B1E367-9412-7D35-1F85-B1A8C25341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"/>
            <a:ext cx="91439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flow from raw data to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1463040" cy="3108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" y="1234440"/>
            <a:ext cx="13167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Data Sources</a:t>
            </a:r>
            <a:endParaRPr lang="en-US" sz="15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Sales (POS)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Stock and batches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Expiry dates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Supplier deliveries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Storage conditions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103120" y="1234440"/>
            <a:ext cx="1463040" cy="3108960"/>
          </a:xfrm>
          <a:prstGeom prst="rect">
            <a:avLst/>
          </a:prstGeom>
          <a:solidFill>
            <a:srgbClr val="2E4A73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21408" y="1257299"/>
            <a:ext cx="1444752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Preprocessing</a:t>
            </a:r>
            <a:endParaRPr lang="en-US" sz="15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values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/ test split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31920" y="1234440"/>
            <a:ext cx="2377440" cy="9144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05072" y="12344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Module 1: Demand Forecasting</a:t>
            </a:r>
            <a:endParaRPr lang="en-US" sz="12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Saai Vardhan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931920" y="2331720"/>
            <a:ext cx="2377440" cy="9144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05072" y="233172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Module 2: Expiry Risk</a:t>
            </a:r>
            <a:endParaRPr lang="en-US" sz="12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Dharshan Vishal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931920" y="3429000"/>
            <a:ext cx="2377440" cy="91440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05072" y="342900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Module 3: Loss Detection</a:t>
            </a:r>
            <a:endParaRPr lang="en-US" sz="12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Saravanan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75120" y="1234440"/>
            <a:ext cx="2103120" cy="3108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48272" y="1234440"/>
            <a:ext cx="19568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Decision Engine</a:t>
            </a:r>
            <a:endParaRPr lang="en-US" sz="15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and Dashboard</a:t>
            </a:r>
            <a:endParaRPr lang="en-US" sz="15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Reorder quantity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Expiry alerts, discounts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 alerts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(Streamlit)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828800" y="2788920"/>
            <a:ext cx="259951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566160" y="169164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309360" y="169164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66160" y="278892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309360" y="278892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566160" y="38862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309360" y="3886200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120640" y="2148840"/>
            <a:ext cx="0" cy="182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365760" y="4462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forecast feeds expiry risk; loss data corrects stock counts used by both.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EA759A18-1DCD-6435-6BEE-17912DC6A1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35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FC165AEE-D9BD-EBE8-7986-B9E66E6E357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object 12">
            <a:extLst>
              <a:ext uri="{FF2B5EF4-FFF2-40B4-BE49-F238E27FC236}">
                <a16:creationId xmlns:a16="http://schemas.microsoft.com/office/drawing/2014/main" id="{7CF35E48-3E3A-B99E-869C-2897C3F1FB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0"/>
            <a:ext cx="91439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Module 1: Demand Forecasting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88997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Predicts how much will sell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Task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 daily/weekly sales of each product for the next 7 to 30 days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Estimate the right reorder quantity to avoid overstock and stock-outs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Input parameters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Past daily sales, product ID and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Price, discounts and promotions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Day of week, holidays, festivals, season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stock level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01752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Outcome parameters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6692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Forecasted units per product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Recommended reorder quantity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 error: MAE, RMSE, MAPE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301752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316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Technique used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77316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series: ARIMA, Prophet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regression: Random Forest, XGBoost, LSTM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model chosen by lowest error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21256762-3EC8-08C3-0BB2-70CF9BE0D7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28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D36A6239-A772-19FB-3E3E-646868D4254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object 12">
            <a:extLst>
              <a:ext uri="{FF2B5EF4-FFF2-40B4-BE49-F238E27FC236}">
                <a16:creationId xmlns:a16="http://schemas.microsoft.com/office/drawing/2014/main" id="{289D68B1-1BA4-4D64-E8F9-D725593C90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1"/>
            <a:ext cx="9143999" cy="684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Module 2: Expiry Prediction and Risk Classification</a:t>
            </a:r>
            <a:endParaRPr lang="en-US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Finds what will expire unsold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 batches likely to expire before they sell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 every batch by expiry risk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parameters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Manufacturing and expiry dates, days left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Batch quantity, shelf life, category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Storage temperature and humidity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Demand forecast from Module 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017520"/>
            <a:ext cx="4023360" cy="274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 parameters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6692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level: High / Medium / 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Probability of expiring unsold, expected waste quantity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Action: discount, move forward, donate, return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Accuracy, precision, recall, F1-score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3017520"/>
            <a:ext cx="4023360" cy="274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316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Technique used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77316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Classification: Decision Tree, Random Forest, Logistic Regression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FEFO rule (First Expired, First Out)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Rule-based alerts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BD03CF47-98FD-31EA-2088-B0F8B381A9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28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63441C65-AD3C-FA5E-CBAB-81EC9BDB2AF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object 12">
            <a:extLst>
              <a:ext uri="{FF2B5EF4-FFF2-40B4-BE49-F238E27FC236}">
                <a16:creationId xmlns:a16="http://schemas.microsoft.com/office/drawing/2014/main" id="{67F1B56F-527B-6F92-B3A6-1CD38F1DEC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1"/>
            <a:ext cx="9143998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Module 3: Inventory Loss Detection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Detects unexplained stock loss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Task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unexplained loss from theft, damage, miscount or billing error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Flag suspicious items, stores or time periods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4300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Input parameters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49047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stock vs physical count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Sales, returns and damaged-goods entries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Supplier deliveries and past shrinkage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Time, store and transaction details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01752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Outcome parameters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6692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 percentage per product / store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Anomaly flag: normal / suspicious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Probable loss cause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Precision, recall, false-alarm rate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301752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316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Technique used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773168" y="3364992"/>
            <a:ext cx="3803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Anomaly detection: Isolation Forest, One-Class SVM, Z-score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Clustering: K-Means to group loss patterns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Threshold-based alerts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94493199-C8DD-A9C9-6083-BD7E29EFEA1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28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CDBF7550-7735-85AB-85B3-3184D5E152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2">
            <a:extLst>
              <a:ext uri="{FF2B5EF4-FFF2-40B4-BE49-F238E27FC236}">
                <a16:creationId xmlns:a16="http://schemas.microsoft.com/office/drawing/2014/main" id="{D25A2C57-198A-1E49-C0D1-BAE5251C4BB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-1" y="1761"/>
            <a:ext cx="9143999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Evaluation Plan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each module will be measured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631737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Success goal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1. Demand Forecasting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MAE, RMSE, MAPE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Lower error than a simple moving-average baseline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2. Expiry Risk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Accuracy, precision, recall, F1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High recall on the High-risk class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3. Loss Detection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Precision, recall, false-alarm rate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Catch real loss with few false alarms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Overall system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Waste reduction %, stock-out reduction %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Bookman Old Style" panose="02050604050505020204" pitchFamily="18" charset="0"/>
                          <a:ea typeface="Calibri" pitchFamily="34" charset="-122"/>
                          <a:cs typeface="Calibri" pitchFamily="34" charset="-120"/>
                        </a:rPr>
                        <a:t>Less expired stock and fewer empty shelves</a:t>
                      </a:r>
                      <a:endParaRPr lang="en-US" sz="1300" dirty="0">
                        <a:latin typeface="Bookman Old Style" panose="0205060405050502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Models are compared on a held-out test set; the best-performing model is kept for each module.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BAEB3A0D-4779-6B16-E6A8-195D7C3267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15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D8635056-A5B6-524B-253F-E9336FA44E2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12">
            <a:extLst>
              <a:ext uri="{FF2B5EF4-FFF2-40B4-BE49-F238E27FC236}">
                <a16:creationId xmlns:a16="http://schemas.microsoft.com/office/drawing/2014/main" id="{C3F3E0DC-23B0-A66E-F122-B5A7840D69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-1" y="1761"/>
            <a:ext cx="9144000" cy="685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Tools and Technology Stack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846473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Everything runs on free, open-source tools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80160"/>
            <a:ext cx="82296" cy="1417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Language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858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3, Jupyter / Colab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280160"/>
            <a:ext cx="82296" cy="1417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Data handling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4747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pandas, NumPy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35040" y="12801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280160"/>
            <a:ext cx="82296" cy="1417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26364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scikit-learn, XGBoost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926080"/>
            <a:ext cx="82296" cy="1417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Forecasting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8580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statsmodels, Prophet, TensorFlow (LSTM)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46120" y="29260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46120" y="2926080"/>
            <a:ext cx="82296" cy="1417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747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Visualization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347472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Matplotlib, Seaborn, Plotly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35040" y="29260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35040" y="2926080"/>
            <a:ext cx="82296" cy="1417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636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626364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9F626399-20E9-E979-DF17-E1DD6113C8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36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EB5CB1A4-A257-54EB-44AA-1042F18318F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12">
            <a:extLst>
              <a:ext uri="{FF2B5EF4-FFF2-40B4-BE49-F238E27FC236}">
                <a16:creationId xmlns:a16="http://schemas.microsoft.com/office/drawing/2014/main" id="{A17F5B83-DD5B-D209-9DE3-E6C805B852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1" y="1761"/>
            <a:ext cx="9143997" cy="69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Business Impact and Future Scope</a:t>
            </a:r>
            <a:endParaRPr lang="en-US" sz="24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78507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delivered today and where the project can grow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Business impact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536192"/>
            <a:ext cx="3803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Less expired and wasted stock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Fewer stock-outs and lost sales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cash flow through smarter reorders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detection of theft and errors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Data-driven decisions for store managers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11887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anose="020506040505050202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11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773168" y="1536192"/>
            <a:ext cx="38039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IoT temperature and humidity sensors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Barcode / RFID for automatic stock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 app with push alerts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demand models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Multi-store cloud deployment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FC2C4CCD-0FFF-1F23-B69A-11723485B54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20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15395109-EA50-6CD0-70FB-733C9636D38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2">
            <a:extLst>
              <a:ext uri="{FF2B5EF4-FFF2-40B4-BE49-F238E27FC236}">
                <a16:creationId xmlns:a16="http://schemas.microsoft.com/office/drawing/2014/main" id="{D1E6FA56-01BC-352C-17A1-FA62E86D4E8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-1" y="0"/>
            <a:ext cx="914400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opperplate Gothic Bold" panose="020E0705020206020404" pitchFamily="34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solidFill>
                <a:schemeClr val="accent1">
                  <a:lumMod val="50000"/>
                </a:schemeClr>
              </a:solidFill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39096" y="1355463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connected AI modules cover demand, expiry and loss in one pipeline.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Forecasts drive expiry decisions; anomaly detection keeps stock data reliable.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helps stores cut waste, avoid stock-outs and act early.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FE0AB558-0F10-15B5-A4E0-98B92A593AB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  <p:pic>
        <p:nvPicPr>
          <p:cNvPr id="12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E5EEE02E-9D73-93BE-2335-C763A66920B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2">
            <a:extLst>
              <a:ext uri="{FF2B5EF4-FFF2-40B4-BE49-F238E27FC236}">
                <a16:creationId xmlns:a16="http://schemas.microsoft.com/office/drawing/2014/main" id="{FBD1EDA8-84DF-0493-EA45-212C18EA90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761"/>
            <a:ext cx="9144000" cy="693183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-1" y="0"/>
            <a:ext cx="91439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opperplate Gothic Bold" panose="020E0705020206020404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46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49363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Hyndman, R. J., &amp; Athanasopoulos, G. Forecasting: Principles and Practice. OTexts.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Taylor, S. J., &amp; Letham, B. (2022). Forecasting at Scale. The American Statistician, 72(1).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Chen, T., &amp; Guestrin, C. (2023). XGBoost: A Scalable Tree Boosting System. KDD 2023.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Liu, F. T., Ting, K. M., &amp; Zhou, Z.-H. (2024). Isolation Forest. IEEE ICDM 2008.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Breiman, L. (2022). Random Forests. Machine Learning, 45(1), 5-32.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Hochreiter, S., &amp; Schmidhuber, J. (2021). Long Short-Term Memory. Neural Computation, 9(8).</a:t>
            </a:r>
            <a:endParaRPr lang="en-US" sz="1500" dirty="0">
              <a:latin typeface="Bookman Old Style" panose="02050604050505020204" pitchFamily="18" charset="0"/>
            </a:endParaRPr>
          </a:p>
          <a:p>
            <a:pPr marL="342900" indent="-34290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F2937"/>
                </a:solidFill>
                <a:latin typeface="Bookman Old Style" panose="02050604050505020204" pitchFamily="18" charset="0"/>
                <a:ea typeface="Calibri" pitchFamily="34" charset="-122"/>
                <a:cs typeface="Calibri" pitchFamily="34" charset="-120"/>
              </a:rPr>
              <a:t>FAO. Global food losses and food waste. Food and Agriculture Organization of the United Nations.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pic>
        <p:nvPicPr>
          <p:cNvPr id="10" name="object 14" descr="Saveetha School of Engineering, Chennai, Tamil Nadu - Careerindia">
            <a:extLst>
              <a:ext uri="{FF2B5EF4-FFF2-40B4-BE49-F238E27FC236}">
                <a16:creationId xmlns:a16="http://schemas.microsoft.com/office/drawing/2014/main" id="{1C6D9A4B-3396-5BF4-F557-9486E5F16BB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8433" y="22583"/>
            <a:ext cx="831653" cy="635515"/>
          </a:xfrm>
          <a:prstGeom prst="rect">
            <a:avLst/>
          </a:prstGeom>
        </p:spPr>
      </p:pic>
      <p:pic>
        <p:nvPicPr>
          <p:cNvPr id="12" name="object 13" descr="Saveetha Institute of Medical and Technical Sciences - Wikipedia">
            <a:extLst>
              <a:ext uri="{FF2B5EF4-FFF2-40B4-BE49-F238E27FC236}">
                <a16:creationId xmlns:a16="http://schemas.microsoft.com/office/drawing/2014/main" id="{E259E055-D2FE-8906-41E7-E4044B33E5F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914" y="22583"/>
            <a:ext cx="826571" cy="6355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1530</Words>
  <Application>Microsoft Office PowerPoint</Application>
  <PresentationFormat>On-screen Show (16:9)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Arial</vt:lpstr>
      <vt:lpstr>Bookman Old Style</vt:lpstr>
      <vt:lpstr>Calibri</vt:lpstr>
      <vt:lpstr>Copperplate Gothic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Inventory Loss and Expiry Predictor</dc:title>
  <dc:subject>PptxGenJS Presentation</dc:subject>
  <dc:creator>Donapati Saai Vardhan, Dharshan Vishal S, Saravanan T</dc:creator>
  <cp:lastModifiedBy>Saai Vardhan</cp:lastModifiedBy>
  <cp:revision>2</cp:revision>
  <dcterms:created xsi:type="dcterms:W3CDTF">2026-10-16T07:10:43Z</dcterms:created>
  <dcterms:modified xsi:type="dcterms:W3CDTF">2026-10-16T08:06:58Z</dcterms:modified>
</cp:coreProperties>
</file>